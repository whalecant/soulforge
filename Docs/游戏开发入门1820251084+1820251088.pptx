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70" r:id="rId3"/>
    <p:sldId id="265" r:id="rId4"/>
    <p:sldId id="271" r:id="rId5"/>
    <p:sldId id="276" r:id="rId6"/>
    <p:sldId id="277" r:id="rId7"/>
    <p:sldId id="275" r:id="rId8"/>
    <p:sldId id="278" r:id="rId9"/>
    <p:sldId id="280" r:id="rId10"/>
    <p:sldId id="279" r:id="rId11"/>
    <p:sldId id="281" r:id="rId12"/>
    <p:sldId id="2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p:cViewPr varScale="1">
        <p:scale>
          <a:sx n="85" d="100"/>
          <a:sy n="85" d="100"/>
        </p:scale>
        <p:origin x="64" y="668"/>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9/26/2026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9/26/2026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9/26/2026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9/26/2026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t>9/26/2026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t>9/26/2026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t>9/26/2026</a:t>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dirty="0"/>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9/26/2026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9/26/2026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9/26/2026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9/26/2026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dirty="0"/>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pPr/>
              <a:t>9/26/2026</a:t>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165763"/>
            <a:ext cx="10896600" cy="1711037"/>
          </a:xfrm>
        </p:spPr>
        <p:txBody>
          <a:bodyPr>
            <a:normAutofit fontScale="90000"/>
          </a:bodyPr>
          <a:lstStyle/>
          <a:p>
            <a:r>
              <a:rPr lang="en-US" dirty="0"/>
              <a:t>Project: [Soul Forge] 73</a:t>
            </a:r>
            <a:r>
              <a:rPr lang="en-US" baseline="30000" dirty="0"/>
              <a:t>rd</a:t>
            </a:r>
            <a:r>
              <a:rPr lang="en-US" dirty="0"/>
              <a:t> Cycle </a:t>
            </a:r>
            <a:r>
              <a:rPr lang="zh-CN" altLang="en-US" dirty="0"/>
              <a:t>项目：</a:t>
            </a:r>
            <a:r>
              <a:rPr lang="en-US" altLang="zh-CN" dirty="0"/>
              <a:t>[</a:t>
            </a:r>
            <a:r>
              <a:rPr lang="zh-CN" altLang="en-US" dirty="0"/>
              <a:t>灵魂锻造</a:t>
            </a:r>
            <a:r>
              <a:rPr lang="en-US" altLang="zh-CN" dirty="0"/>
              <a:t>] </a:t>
            </a:r>
            <a:r>
              <a:rPr lang="zh-CN" altLang="en-US" dirty="0"/>
              <a:t>第</a:t>
            </a:r>
            <a:r>
              <a:rPr lang="en-US" altLang="zh-CN" dirty="0"/>
              <a:t>73</a:t>
            </a:r>
            <a:r>
              <a:rPr lang="zh-CN" altLang="en-US" dirty="0"/>
              <a:t>周期</a:t>
            </a:r>
            <a:endParaRPr dirty="0"/>
          </a:p>
        </p:txBody>
      </p:sp>
      <p:sp>
        <p:nvSpPr>
          <p:cNvPr id="3" name="Subtitle 2"/>
          <p:cNvSpPr>
            <a:spLocks noGrp="1"/>
          </p:cNvSpPr>
          <p:nvPr>
            <p:ph type="subTitle" idx="1"/>
          </p:nvPr>
        </p:nvSpPr>
        <p:spPr/>
        <p:txBody>
          <a:bodyPr/>
          <a:lstStyle/>
          <a:p>
            <a:r>
              <a:rPr lang="en-US" dirty="0"/>
              <a:t>By 1820251088 </a:t>
            </a:r>
            <a:r>
              <a:rPr lang="zh-CN" altLang="en-US" dirty="0"/>
              <a:t>颜键杨 </a:t>
            </a:r>
            <a:r>
              <a:rPr lang="en-US" dirty="0"/>
              <a:t>&amp; 1820251084 </a:t>
            </a:r>
            <a:r>
              <a:rPr lang="zh-CN" altLang="en-US" dirty="0"/>
              <a:t>宋理</a:t>
            </a:r>
            <a:endParaRPr dirty="0"/>
          </a:p>
        </p:txBody>
      </p:sp>
    </p:spTree>
    <p:extLst>
      <p:ext uri="{BB962C8B-B14F-4D97-AF65-F5344CB8AC3E}">
        <p14:creationId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11353800" cy="685800"/>
          </a:xfrm>
        </p:spPr>
        <p:txBody>
          <a:bodyPr>
            <a:normAutofit fontScale="90000"/>
          </a:bodyPr>
          <a:lstStyle/>
          <a:p>
            <a:r>
              <a:rPr lang="en-US" dirty="0"/>
              <a:t>Introduction/Overview </a:t>
            </a:r>
            <a:r>
              <a:rPr lang="zh-CN" altLang="en-US" dirty="0"/>
              <a:t>引言</a:t>
            </a:r>
            <a:r>
              <a:rPr lang="en-US" altLang="zh-CN" dirty="0"/>
              <a:t>/</a:t>
            </a:r>
            <a:r>
              <a:rPr lang="zh-CN" altLang="en-US" dirty="0"/>
              <a:t>概述</a:t>
            </a:r>
            <a:endParaRPr dirty="0"/>
          </a:p>
        </p:txBody>
      </p:sp>
      <p:sp>
        <p:nvSpPr>
          <p:cNvPr id="3" name="Text Placeholder 2"/>
          <p:cNvSpPr>
            <a:spLocks noGrp="1"/>
          </p:cNvSpPr>
          <p:nvPr>
            <p:ph type="body" idx="1"/>
          </p:nvPr>
        </p:nvSpPr>
        <p:spPr>
          <a:xfrm>
            <a:off x="152400" y="1295400"/>
            <a:ext cx="11963400" cy="5334000"/>
          </a:xfrm>
        </p:spPr>
        <p:txBody>
          <a:bodyPr>
            <a:normAutofit/>
          </a:bodyPr>
          <a:lstStyle/>
          <a:p>
            <a:r>
              <a:rPr lang="en-US" dirty="0" err="1"/>
              <a:t>Pygame</a:t>
            </a:r>
            <a:r>
              <a:rPr lang="en-US" dirty="0"/>
              <a:t> files have now been compiled as an executable program application for the 2D stealth platformer with customized player movement systems having undergone overhaul, followed y platform collision and save management as well as User interface buttons, lore delivery, enemy artificial intelligence and a branching epilogue sequence. </a:t>
            </a:r>
            <a:r>
              <a:rPr lang="en-US" altLang="zh-CN" dirty="0" err="1"/>
              <a:t>Pygame</a:t>
            </a:r>
            <a:r>
              <a:rPr lang="en-US" altLang="zh-CN" dirty="0"/>
              <a:t> </a:t>
            </a:r>
          </a:p>
          <a:p>
            <a:r>
              <a:rPr lang="zh-CN" altLang="en-US" dirty="0"/>
              <a:t>文件现已编译为可执行程序，适用于这款</a:t>
            </a:r>
            <a:r>
              <a:rPr lang="en-US" altLang="zh-CN" dirty="0"/>
              <a:t>2D</a:t>
            </a:r>
            <a:r>
              <a:rPr lang="zh-CN" altLang="en-US" dirty="0"/>
              <a:t>潜行平台游戏，定制的玩家移动系统经过全面改造，包含平台碰撞与存档管理、用户界面按钮、背景故事传递、敌人人工智能以及分支尾声序列。</a:t>
            </a:r>
            <a:endParaRPr lang="en-US" altLang="zh-CN" dirty="0"/>
          </a:p>
          <a:p>
            <a:endParaRPr lang="en-US" altLang="zh-CN" dirty="0"/>
          </a:p>
          <a:p>
            <a:r>
              <a:rPr lang="en-US" altLang="zh-CN" dirty="0"/>
              <a:t>Premise being you are Marquette Verne the 73</a:t>
            </a:r>
            <a:r>
              <a:rPr lang="en-US" altLang="zh-CN" baseline="30000" dirty="0"/>
              <a:t>rd</a:t>
            </a:r>
            <a:r>
              <a:rPr lang="en-US" altLang="zh-CN" dirty="0"/>
              <a:t> Soul Forge, not a location but a title as a concept, the world you enter is a minimal subspace where the essence of souls have wandered to and those who can understand souls as code can create the world that exists as is and your mission is to stop the warden that misuses such talent to create oppressing forces by platforming through his domain. Avoid enemies, collect the tablets the secrets left behind by your forebearers and defeat the Warden Gerard </a:t>
            </a:r>
            <a:r>
              <a:rPr lang="en-US" altLang="zh-CN" dirty="0" err="1"/>
              <a:t>Gatewald</a:t>
            </a:r>
            <a:r>
              <a:rPr lang="en-US" altLang="zh-CN" dirty="0"/>
              <a:t>. </a:t>
            </a:r>
          </a:p>
          <a:p>
            <a:r>
              <a:rPr lang="zh-CN" altLang="en-US" dirty="0"/>
              <a:t>前提是你是第</a:t>
            </a:r>
            <a:r>
              <a:rPr lang="en-US" altLang="zh-CN" dirty="0"/>
              <a:t>73</a:t>
            </a:r>
            <a:r>
              <a:rPr lang="zh-CN" altLang="en-US" dirty="0"/>
              <a:t>个灵魂锻造者马凯特</a:t>
            </a:r>
            <a:r>
              <a:rPr lang="en-US" altLang="zh-CN" dirty="0"/>
              <a:t>·</a:t>
            </a:r>
            <a:r>
              <a:rPr lang="zh-CN" altLang="en-US" dirty="0"/>
              <a:t>凡尔纳，不是地点，而是一个头衔概念，你进入的世界是一个最小的亚空间，灵魂的本质游荡其中，能理解灵魂作为代码的人创造出现存的世界，你的任务是阻止那个滥用这种天赋通过跳跃创造压迫力量的守卫者。避开敌人，收集祖先留下的秘密石板，击败守护者杰拉德</a:t>
            </a:r>
            <a:r>
              <a:rPr lang="en-US" altLang="zh-CN" dirty="0"/>
              <a:t>·</a:t>
            </a:r>
            <a:r>
              <a:rPr lang="zh-CN" altLang="en-US" dirty="0"/>
              <a:t>盖特沃尔德。</a:t>
            </a:r>
          </a:p>
          <a:p>
            <a:endParaRPr dirty="0"/>
          </a:p>
        </p:txBody>
      </p:sp>
    </p:spTree>
    <p:extLst>
      <p:ext uri="{BB962C8B-B14F-4D97-AF65-F5344CB8AC3E}">
        <p14:creationId xmlns:p14="http://schemas.microsoft.com/office/powerpoint/2010/main" val="3444435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1502" y="76200"/>
            <a:ext cx="9144000" cy="609600"/>
          </a:xfrm>
        </p:spPr>
        <p:txBody>
          <a:bodyPr/>
          <a:lstStyle/>
          <a:p>
            <a:r>
              <a:rPr lang="en-US" dirty="0"/>
              <a:t>Game Development Elements </a:t>
            </a:r>
            <a:r>
              <a:rPr lang="zh-CN" altLang="en-US" dirty="0"/>
              <a:t>游戏开发元素</a:t>
            </a:r>
            <a:endParaRPr dirty="0"/>
          </a:p>
        </p:txBody>
      </p:sp>
      <p:sp>
        <p:nvSpPr>
          <p:cNvPr id="14" name="Content Placeholder 13"/>
          <p:cNvSpPr>
            <a:spLocks noGrp="1"/>
          </p:cNvSpPr>
          <p:nvPr>
            <p:ph idx="1"/>
          </p:nvPr>
        </p:nvSpPr>
        <p:spPr>
          <a:xfrm>
            <a:off x="136785" y="685800"/>
            <a:ext cx="11918429" cy="5867400"/>
          </a:xfrm>
        </p:spPr>
        <p:txBody>
          <a:bodyPr>
            <a:normAutofit lnSpcReduction="10000"/>
          </a:bodyPr>
          <a:lstStyle/>
          <a:p>
            <a:r>
              <a:rPr lang="en-US" dirty="0"/>
              <a:t>Demonstrating fundamental building blocks of game development WITH in lore complimentary explanations &amp; acknowledgement that the character and player in and out of lore both understand and experience the elements in order to learn to code and create afterwards. </a:t>
            </a:r>
          </a:p>
          <a:p>
            <a:r>
              <a:rPr lang="zh-CN" altLang="en-US" dirty="0"/>
              <a:t>展示游戏开发的基本构建要素，同时在背景故事中辅导补充解释，并承认角色和玩家在背景故事内外都理解并体验元素，以便之后学习编程和创作</a:t>
            </a:r>
            <a:r>
              <a:rPr lang="en-US" altLang="zh-CN" dirty="0"/>
              <a:t>.</a:t>
            </a:r>
            <a:endParaRPr dirty="0"/>
          </a:p>
          <a:p>
            <a:r>
              <a:rPr lang="en-US" dirty="0"/>
              <a:t>Game loops with clock tick while running &amp; the state machine is implemented with Menu, level select, playing, paused, journal, reading followed by warden dialogue and ending sectioning the long progress and experience before the conclusion of the elements and narrative point. </a:t>
            </a:r>
          </a:p>
          <a:p>
            <a:r>
              <a:rPr lang="zh-CN" altLang="en-US" dirty="0"/>
              <a:t>游戏循环，运行时钟滴答，状态机通过菜单、关卡选择、游戏、暂停、日志、阅读、守卫对话和结束分段，展示漫长的进展和体验，直到元素和叙事点结束。</a:t>
            </a:r>
            <a:endParaRPr dirty="0"/>
          </a:p>
          <a:p>
            <a:r>
              <a:rPr lang="en-US" dirty="0"/>
              <a:t>Event handles with </a:t>
            </a:r>
            <a:r>
              <a:rPr lang="en-US" dirty="0" err="1"/>
              <a:t>pygame.event.get</a:t>
            </a:r>
            <a:r>
              <a:rPr lang="en-US" dirty="0"/>
              <a:t>() for the keyboard and mouse for consistent swift player input while the code like </a:t>
            </a:r>
            <a:r>
              <a:rPr lang="en-US" dirty="0" err="1"/>
              <a:t>screen.blit</a:t>
            </a:r>
            <a:r>
              <a:rPr lang="en-US" dirty="0"/>
              <a:t>() handles the rendering for physics elements of velocity collision resolution &amp; gravity with minimal resource consumption saved with JSON save systems with checkpoints implemented to ensure the player can enjoy all the creative levels up to the point that the typewriter dialogue branch endings and journal chapters culminate towards to, the epilogues. </a:t>
            </a:r>
          </a:p>
          <a:p>
            <a:r>
              <a:rPr lang="en-US" altLang="zh-CN" dirty="0"/>
              <a:t>Event </a:t>
            </a:r>
            <a:r>
              <a:rPr lang="zh-CN" altLang="en-US" dirty="0"/>
              <a:t>通过 </a:t>
            </a:r>
            <a:r>
              <a:rPr lang="en-US" altLang="zh-CN" dirty="0" err="1"/>
              <a:t>pygame.event.get</a:t>
            </a:r>
            <a:r>
              <a:rPr lang="zh-CN" altLang="en-US" dirty="0"/>
              <a:t>（） 处理键盘和鼠标，确保玩家输入稳定且迅速，而 </a:t>
            </a:r>
            <a:r>
              <a:rPr lang="en-US" altLang="zh-CN" dirty="0" err="1"/>
              <a:t>screen.blit</a:t>
            </a:r>
            <a:r>
              <a:rPr lang="zh-CN" altLang="en-US" dirty="0"/>
              <a:t>（） 等代码则处理速度、碰撞分辨率和重力等物理元素的渲染，资源消耗最小，通过 </a:t>
            </a:r>
            <a:r>
              <a:rPr lang="en-US" altLang="zh-CN" dirty="0"/>
              <a:t>JSON </a:t>
            </a:r>
            <a:r>
              <a:rPr lang="zh-CN" altLang="en-US" dirty="0"/>
              <a:t>存档系统和检查点的实现，确保玩家能享受所有创意层次，直到打字机对话分支结尾和日记章节最终汇聚至尾声。</a:t>
            </a:r>
            <a:endParaRPr dirty="0"/>
          </a:p>
        </p:txBody>
      </p:sp>
    </p:spTree>
    <p:extLst>
      <p:ext uri="{BB962C8B-B14F-4D97-AF65-F5344CB8AC3E}">
        <p14:creationId xmlns:p14="http://schemas.microsoft.com/office/powerpoint/2010/main" val="3042826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Player Character Movement </a:t>
            </a:r>
            <a:r>
              <a:rPr lang="zh-CN" altLang="en-US" dirty="0"/>
              <a:t>玩家角色移动</a:t>
            </a:r>
            <a:endParaRPr dirty="0"/>
          </a:p>
        </p:txBody>
      </p:sp>
      <p:sp>
        <p:nvSpPr>
          <p:cNvPr id="3" name="Text Placeholder 2"/>
          <p:cNvSpPr>
            <a:spLocks noGrp="1"/>
          </p:cNvSpPr>
          <p:nvPr>
            <p:ph type="body" idx="1"/>
          </p:nvPr>
        </p:nvSpPr>
        <p:spPr/>
        <p:txBody>
          <a:bodyPr/>
          <a:lstStyle/>
          <a:p>
            <a:r>
              <a:rPr lang="en-US" dirty="0"/>
              <a:t>General Basis </a:t>
            </a:r>
            <a:r>
              <a:rPr lang="zh-CN" altLang="en-US" dirty="0"/>
              <a:t>基础</a:t>
            </a:r>
            <a:endParaRPr dirty="0"/>
          </a:p>
        </p:txBody>
      </p:sp>
      <p:sp>
        <p:nvSpPr>
          <p:cNvPr id="4" name="Content Placeholder 3"/>
          <p:cNvSpPr>
            <a:spLocks noGrp="1"/>
          </p:cNvSpPr>
          <p:nvPr>
            <p:ph sz="half" idx="2"/>
          </p:nvPr>
        </p:nvSpPr>
        <p:spPr>
          <a:xfrm>
            <a:off x="381000" y="2514600"/>
            <a:ext cx="5489448" cy="3581401"/>
          </a:xfrm>
        </p:spPr>
        <p:txBody>
          <a:bodyPr>
            <a:normAutofit lnSpcReduction="10000"/>
          </a:bodyPr>
          <a:lstStyle/>
          <a:p>
            <a:r>
              <a:rPr lang="en-US" dirty="0"/>
              <a:t>The Class known as player uses attributes of </a:t>
            </a:r>
            <a:r>
              <a:rPr lang="en-US" dirty="0" err="1"/>
              <a:t>rect</a:t>
            </a:r>
            <a:r>
              <a:rPr lang="en-US" dirty="0"/>
              <a:t> for pixel structure and </a:t>
            </a:r>
            <a:r>
              <a:rPr lang="en-US" dirty="0" err="1"/>
              <a:t>vel_x</a:t>
            </a:r>
            <a:r>
              <a:rPr lang="en-US" dirty="0"/>
              <a:t> or _y for horizontal and vertical velocity with Boolean jump validation known as “</a:t>
            </a:r>
            <a:r>
              <a:rPr lang="en-US" dirty="0" err="1"/>
              <a:t>on_ground</a:t>
            </a:r>
            <a:r>
              <a:rPr lang="en-US" dirty="0"/>
              <a:t>” with constants of a customized gravity </a:t>
            </a:r>
            <a:r>
              <a:rPr lang="en-US" dirty="0" err="1"/>
              <a:t>jump_strength</a:t>
            </a:r>
            <a:r>
              <a:rPr lang="en-US" dirty="0"/>
              <a:t> and </a:t>
            </a:r>
            <a:r>
              <a:rPr lang="en-US" dirty="0" err="1"/>
              <a:t>movement_speed</a:t>
            </a:r>
            <a:r>
              <a:rPr lang="en-US" dirty="0"/>
              <a:t> value run by If else loop keys for the logic. </a:t>
            </a:r>
          </a:p>
          <a:p>
            <a:r>
              <a:rPr lang="zh-CN" altLang="en-US" dirty="0"/>
              <a:t>称为 </a:t>
            </a:r>
            <a:r>
              <a:rPr lang="en-US" dirty="0"/>
              <a:t>player </a:t>
            </a:r>
            <a:r>
              <a:rPr lang="zh-CN" altLang="en-US" dirty="0"/>
              <a:t>的类使用 </a:t>
            </a:r>
            <a:r>
              <a:rPr lang="en-US" dirty="0" err="1"/>
              <a:t>rect</a:t>
            </a:r>
            <a:r>
              <a:rPr lang="en-US" dirty="0"/>
              <a:t> </a:t>
            </a:r>
            <a:r>
              <a:rPr lang="zh-CN" altLang="en-US" dirty="0"/>
              <a:t>属性表示像素结构，</a:t>
            </a:r>
            <a:r>
              <a:rPr lang="en-US" dirty="0" err="1"/>
              <a:t>vel_x</a:t>
            </a:r>
            <a:r>
              <a:rPr lang="en-US" dirty="0"/>
              <a:t> </a:t>
            </a:r>
            <a:r>
              <a:rPr lang="zh-CN" altLang="en-US" dirty="0"/>
              <a:t>或 </a:t>
            </a:r>
            <a:r>
              <a:rPr lang="en-US" altLang="zh-CN" dirty="0"/>
              <a:t>_</a:t>
            </a:r>
            <a:r>
              <a:rPr lang="en-US" dirty="0"/>
              <a:t>y </a:t>
            </a:r>
            <a:r>
              <a:rPr lang="zh-CN" altLang="en-US" dirty="0"/>
              <a:t>属性表示水平和垂直速度，并采用布尔跳验证“</a:t>
            </a:r>
            <a:r>
              <a:rPr lang="en-US" dirty="0" err="1"/>
              <a:t>on_ground</a:t>
            </a:r>
            <a:r>
              <a:rPr lang="en-US" dirty="0"/>
              <a:t>”，</a:t>
            </a:r>
            <a:r>
              <a:rPr lang="zh-CN" altLang="en-US" dirty="0"/>
              <a:t>常数为自定义的重力</a:t>
            </a:r>
            <a:r>
              <a:rPr lang="en-US" dirty="0" err="1"/>
              <a:t>jump_strength</a:t>
            </a:r>
            <a:r>
              <a:rPr lang="zh-CN" altLang="en-US" dirty="0"/>
              <a:t>和 </a:t>
            </a:r>
            <a:r>
              <a:rPr lang="en-US" dirty="0" err="1"/>
              <a:t>movement_speed</a:t>
            </a:r>
            <a:r>
              <a:rPr lang="en-US" dirty="0"/>
              <a:t> </a:t>
            </a:r>
            <a:r>
              <a:rPr lang="zh-CN" altLang="en-US" dirty="0"/>
              <a:t>值，并由 </a:t>
            </a:r>
            <a:r>
              <a:rPr lang="en-US" dirty="0"/>
              <a:t>If else </a:t>
            </a:r>
            <a:r>
              <a:rPr lang="zh-CN" altLang="en-US" dirty="0"/>
              <a:t>循环键执行。</a:t>
            </a:r>
          </a:p>
          <a:p>
            <a:endParaRPr lang="en-US" dirty="0"/>
          </a:p>
        </p:txBody>
      </p:sp>
      <p:sp>
        <p:nvSpPr>
          <p:cNvPr id="5" name="Text Placeholder 4"/>
          <p:cNvSpPr>
            <a:spLocks noGrp="1"/>
          </p:cNvSpPr>
          <p:nvPr>
            <p:ph type="body" sz="quarter" idx="3"/>
          </p:nvPr>
        </p:nvSpPr>
        <p:spPr/>
        <p:txBody>
          <a:bodyPr/>
          <a:lstStyle/>
          <a:p>
            <a:r>
              <a:rPr lang="en-US" dirty="0"/>
              <a:t>Updating Sequence </a:t>
            </a:r>
            <a:r>
              <a:rPr lang="zh-CN" altLang="en-US" dirty="0"/>
              <a:t>更新序列</a:t>
            </a:r>
            <a:endParaRPr dirty="0"/>
          </a:p>
        </p:txBody>
      </p:sp>
      <p:sp>
        <p:nvSpPr>
          <p:cNvPr id="6" name="Content Placeholder 5"/>
          <p:cNvSpPr>
            <a:spLocks noGrp="1"/>
          </p:cNvSpPr>
          <p:nvPr>
            <p:ph sz="quarter" idx="4"/>
          </p:nvPr>
        </p:nvSpPr>
        <p:spPr>
          <a:xfrm>
            <a:off x="6327648" y="2514600"/>
            <a:ext cx="5254752" cy="3581401"/>
          </a:xfrm>
        </p:spPr>
        <p:txBody>
          <a:bodyPr>
            <a:normAutofit lnSpcReduction="10000"/>
          </a:bodyPr>
          <a:lstStyle/>
          <a:p>
            <a:r>
              <a:rPr lang="en-US" dirty="0"/>
              <a:t>Updating sequence applies gravity to vertical velocity and movements any direction resolve collisions clamp within screen boundaries but given ample angles of wall jumping/climbing to maneuver in their own territory. </a:t>
            </a:r>
          </a:p>
          <a:p>
            <a:r>
              <a:rPr lang="zh-CN" altLang="en-US" dirty="0"/>
              <a:t>更新序列会将重力作用于垂直速度和移动，任何方向的解析碰撞都会被限制在屏幕边界内，但允许有足够的角度进行墙壁跳跃</a:t>
            </a:r>
            <a:r>
              <a:rPr lang="en-US" altLang="zh-CN" dirty="0"/>
              <a:t>/</a:t>
            </a:r>
            <a:r>
              <a:rPr lang="zh-CN" altLang="en-US" dirty="0"/>
              <a:t>攀爬，以便在自己的领地内机动。</a:t>
            </a:r>
          </a:p>
          <a:p>
            <a:endParaRPr lang="en-US" dirty="0"/>
          </a:p>
        </p:txBody>
      </p:sp>
    </p:spTree>
    <p:extLst>
      <p:ext uri="{BB962C8B-B14F-4D97-AF65-F5344CB8AC3E}">
        <p14:creationId xmlns:p14="http://schemas.microsoft.com/office/powerpoint/2010/main" val="1475842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Platforms &amp; Platforming </a:t>
            </a:r>
            <a:r>
              <a:rPr lang="zh-CN" altLang="en-US" dirty="0"/>
              <a:t>平台与平台</a:t>
            </a:r>
            <a:endParaRPr dirty="0"/>
          </a:p>
        </p:txBody>
      </p:sp>
      <p:sp>
        <p:nvSpPr>
          <p:cNvPr id="3" name="Text Placeholder 2"/>
          <p:cNvSpPr>
            <a:spLocks noGrp="1"/>
          </p:cNvSpPr>
          <p:nvPr>
            <p:ph type="body" idx="1"/>
          </p:nvPr>
        </p:nvSpPr>
        <p:spPr>
          <a:xfrm>
            <a:off x="685799" y="1828800"/>
            <a:ext cx="5178553" cy="685800"/>
          </a:xfrm>
        </p:spPr>
        <p:txBody>
          <a:bodyPr/>
          <a:lstStyle/>
          <a:p>
            <a:r>
              <a:rPr lang="en-US" dirty="0"/>
              <a:t>Construction </a:t>
            </a:r>
            <a:r>
              <a:rPr lang="zh-CN" altLang="en-US" dirty="0"/>
              <a:t>建设</a:t>
            </a:r>
            <a:endParaRPr dirty="0"/>
          </a:p>
        </p:txBody>
      </p:sp>
      <p:sp>
        <p:nvSpPr>
          <p:cNvPr id="4" name="Content Placeholder 3"/>
          <p:cNvSpPr>
            <a:spLocks noGrp="1"/>
          </p:cNvSpPr>
          <p:nvPr>
            <p:ph sz="half" idx="2"/>
          </p:nvPr>
        </p:nvSpPr>
        <p:spPr>
          <a:xfrm>
            <a:off x="381000" y="2514600"/>
            <a:ext cx="5489448" cy="3581401"/>
          </a:xfrm>
        </p:spPr>
        <p:txBody>
          <a:bodyPr>
            <a:normAutofit/>
          </a:bodyPr>
          <a:lstStyle/>
          <a:p>
            <a:r>
              <a:rPr lang="en-US" dirty="0"/>
              <a:t>Platforms, </a:t>
            </a:r>
            <a:r>
              <a:rPr lang="en-US" dirty="0" err="1"/>
              <a:t>lore_keys</a:t>
            </a:r>
            <a:r>
              <a:rPr lang="en-US" dirty="0"/>
              <a:t> and enemies are returned from lists of </a:t>
            </a:r>
            <a:r>
              <a:rPr lang="en-US" dirty="0" err="1"/>
              <a:t>lorekey</a:t>
            </a:r>
            <a:r>
              <a:rPr lang="en-US" dirty="0"/>
              <a:t> enemy and </a:t>
            </a:r>
            <a:r>
              <a:rPr lang="en-US" dirty="0" err="1"/>
              <a:t>pygame.rect</a:t>
            </a:r>
            <a:r>
              <a:rPr lang="en-US" dirty="0"/>
              <a:t> with the basis of </a:t>
            </a:r>
            <a:r>
              <a:rPr lang="en-US" dirty="0" err="1"/>
              <a:t>build_level</a:t>
            </a:r>
            <a:r>
              <a:rPr lang="en-US" dirty="0"/>
              <a:t>(level) and the custom designed maps implemented by our chief coder set with screen height and width to manage cluttering. </a:t>
            </a:r>
          </a:p>
          <a:p>
            <a:r>
              <a:rPr lang="zh-CN" altLang="en-US" dirty="0"/>
              <a:t>平台、</a:t>
            </a:r>
            <a:r>
              <a:rPr lang="en-US" altLang="zh-CN" dirty="0" err="1"/>
              <a:t>lore_keys</a:t>
            </a:r>
            <a:r>
              <a:rPr lang="zh-CN" altLang="en-US" dirty="0"/>
              <a:t>和敌人均来自 </a:t>
            </a:r>
            <a:r>
              <a:rPr lang="en-US" altLang="zh-CN" dirty="0" err="1"/>
              <a:t>lorekey</a:t>
            </a:r>
            <a:r>
              <a:rPr lang="en-US" altLang="zh-CN" dirty="0"/>
              <a:t> </a:t>
            </a:r>
            <a:r>
              <a:rPr lang="zh-CN" altLang="en-US" dirty="0"/>
              <a:t>敌人列表和 </a:t>
            </a:r>
            <a:r>
              <a:rPr lang="en-US" altLang="zh-CN" dirty="0" err="1"/>
              <a:t>pygame.rect</a:t>
            </a:r>
            <a:r>
              <a:rPr lang="zh-CN" altLang="en-US" dirty="0"/>
              <a:t>，基于 </a:t>
            </a:r>
            <a:r>
              <a:rPr lang="en-US" altLang="zh-CN" dirty="0" err="1"/>
              <a:t>build_level</a:t>
            </a:r>
            <a:r>
              <a:rPr lang="zh-CN" altLang="en-US" dirty="0"/>
              <a:t>（关卡）和由首席程序员实现的自定义地图，这些地图带有屏幕高度和宽度以管理杂乱。</a:t>
            </a:r>
            <a:endParaRPr lang="en-US" dirty="0"/>
          </a:p>
        </p:txBody>
      </p:sp>
      <p:sp>
        <p:nvSpPr>
          <p:cNvPr id="5" name="Text Placeholder 4"/>
          <p:cNvSpPr>
            <a:spLocks noGrp="1"/>
          </p:cNvSpPr>
          <p:nvPr>
            <p:ph type="body" sz="quarter" idx="3"/>
          </p:nvPr>
        </p:nvSpPr>
        <p:spPr>
          <a:xfrm>
            <a:off x="6327648" y="1828800"/>
            <a:ext cx="4873752" cy="685800"/>
          </a:xfrm>
        </p:spPr>
        <p:txBody>
          <a:bodyPr/>
          <a:lstStyle/>
          <a:p>
            <a:r>
              <a:rPr lang="en-US" dirty="0"/>
              <a:t>Collisions </a:t>
            </a:r>
            <a:r>
              <a:rPr lang="zh-CN" altLang="en-US" dirty="0"/>
              <a:t>碰撞</a:t>
            </a:r>
            <a:endParaRPr dirty="0"/>
          </a:p>
        </p:txBody>
      </p:sp>
      <p:sp>
        <p:nvSpPr>
          <p:cNvPr id="6" name="Content Placeholder 5"/>
          <p:cNvSpPr>
            <a:spLocks noGrp="1"/>
          </p:cNvSpPr>
          <p:nvPr>
            <p:ph sz="quarter" idx="4"/>
          </p:nvPr>
        </p:nvSpPr>
        <p:spPr>
          <a:xfrm>
            <a:off x="6327648" y="2514600"/>
            <a:ext cx="5407152" cy="3581401"/>
          </a:xfrm>
        </p:spPr>
        <p:txBody>
          <a:bodyPr>
            <a:normAutofit/>
          </a:bodyPr>
          <a:lstStyle/>
          <a:p>
            <a:r>
              <a:rPr lang="en-US" dirty="0" err="1"/>
              <a:t>Rect.right</a:t>
            </a:r>
            <a:r>
              <a:rPr lang="en-US" dirty="0"/>
              <a:t> = </a:t>
            </a:r>
            <a:r>
              <a:rPr lang="en-US" dirty="0" err="1"/>
              <a:t>p.left</a:t>
            </a:r>
            <a:r>
              <a:rPr lang="en-US" dirty="0"/>
              <a:t> or </a:t>
            </a:r>
            <a:r>
              <a:rPr lang="en-US" dirty="0" err="1"/>
              <a:t>rect.left</a:t>
            </a:r>
            <a:r>
              <a:rPr lang="en-US" dirty="0"/>
              <a:t> = </a:t>
            </a:r>
            <a:r>
              <a:rPr lang="en-US" dirty="0" err="1"/>
              <a:t>p.right</a:t>
            </a:r>
            <a:r>
              <a:rPr lang="en-US" dirty="0"/>
              <a:t> just as </a:t>
            </a:r>
            <a:r>
              <a:rPr lang="en-US" dirty="0" err="1"/>
              <a:t>rect.bottom</a:t>
            </a:r>
            <a:r>
              <a:rPr lang="en-US" dirty="0"/>
              <a:t> = </a:t>
            </a:r>
            <a:r>
              <a:rPr lang="en-US" dirty="0" err="1"/>
              <a:t>p.top</a:t>
            </a:r>
            <a:r>
              <a:rPr lang="en-US" dirty="0"/>
              <a:t> or </a:t>
            </a:r>
            <a:r>
              <a:rPr lang="en-US" dirty="0" err="1"/>
              <a:t>rect.top</a:t>
            </a:r>
            <a:r>
              <a:rPr lang="en-US" dirty="0"/>
              <a:t> = </a:t>
            </a:r>
            <a:r>
              <a:rPr lang="en-US" dirty="0" err="1"/>
              <a:t>p.bottom</a:t>
            </a:r>
            <a:r>
              <a:rPr lang="en-US" dirty="0"/>
              <a:t> resolve velocity of </a:t>
            </a:r>
            <a:r>
              <a:rPr lang="en-US" dirty="0" err="1"/>
              <a:t>orizontal</a:t>
            </a:r>
            <a:r>
              <a:rPr lang="en-US" dirty="0"/>
              <a:t> and vertical set to be 0 and level transitions when the </a:t>
            </a:r>
            <a:r>
              <a:rPr lang="en-US" dirty="0" err="1"/>
              <a:t>player.rect.x</a:t>
            </a:r>
            <a:r>
              <a:rPr lang="en-US" dirty="0"/>
              <a:t> &gt; </a:t>
            </a:r>
            <a:r>
              <a:rPr lang="en-US" dirty="0" err="1"/>
              <a:t>screen_width</a:t>
            </a:r>
            <a:r>
              <a:rPr lang="en-US" dirty="0"/>
              <a:t> – 60, </a:t>
            </a:r>
            <a:r>
              <a:rPr lang="en-US" dirty="0" err="1"/>
              <a:t>next_level</a:t>
            </a:r>
            <a:r>
              <a:rPr lang="en-US" dirty="0"/>
              <a:t>() is called. </a:t>
            </a:r>
          </a:p>
          <a:p>
            <a:r>
              <a:rPr lang="en-US" dirty="0" err="1"/>
              <a:t>Rect.right</a:t>
            </a:r>
            <a:r>
              <a:rPr lang="en-US" dirty="0"/>
              <a:t> = </a:t>
            </a:r>
            <a:r>
              <a:rPr lang="en-US" dirty="0" err="1"/>
              <a:t>p.left</a:t>
            </a:r>
            <a:r>
              <a:rPr lang="en-US" dirty="0"/>
              <a:t> </a:t>
            </a:r>
            <a:r>
              <a:rPr lang="zh-CN" altLang="en-US" dirty="0"/>
              <a:t>或 </a:t>
            </a:r>
            <a:r>
              <a:rPr lang="en-US" dirty="0" err="1"/>
              <a:t>rect.left</a:t>
            </a:r>
            <a:r>
              <a:rPr lang="en-US" dirty="0"/>
              <a:t> = </a:t>
            </a:r>
            <a:r>
              <a:rPr lang="en-US" dirty="0" err="1"/>
              <a:t>p.right</a:t>
            </a:r>
            <a:r>
              <a:rPr lang="en-US" dirty="0"/>
              <a:t>，</a:t>
            </a:r>
            <a:r>
              <a:rPr lang="zh-CN" altLang="en-US" dirty="0"/>
              <a:t>就像 </a:t>
            </a:r>
            <a:r>
              <a:rPr lang="en-US" dirty="0" err="1"/>
              <a:t>rect.bottom</a:t>
            </a:r>
            <a:r>
              <a:rPr lang="en-US" dirty="0"/>
              <a:t> = </a:t>
            </a:r>
            <a:r>
              <a:rPr lang="en-US" dirty="0" err="1"/>
              <a:t>p.top</a:t>
            </a:r>
            <a:r>
              <a:rPr lang="en-US" dirty="0"/>
              <a:t> </a:t>
            </a:r>
            <a:r>
              <a:rPr lang="zh-CN" altLang="en-US" dirty="0"/>
              <a:t>或 </a:t>
            </a:r>
            <a:r>
              <a:rPr lang="en-US" dirty="0" err="1"/>
              <a:t>rect.top</a:t>
            </a:r>
            <a:r>
              <a:rPr lang="en-US" dirty="0"/>
              <a:t> = </a:t>
            </a:r>
            <a:r>
              <a:rPr lang="en-US" dirty="0" err="1"/>
              <a:t>p.bottom</a:t>
            </a:r>
            <a:r>
              <a:rPr lang="en-US" dirty="0"/>
              <a:t> </a:t>
            </a:r>
            <a:r>
              <a:rPr lang="zh-CN" altLang="en-US" dirty="0"/>
              <a:t>一样，分辨率分辨率的初和垂直速度设为 </a:t>
            </a:r>
            <a:r>
              <a:rPr lang="en-US" altLang="zh-CN" dirty="0"/>
              <a:t>0</a:t>
            </a:r>
            <a:r>
              <a:rPr lang="zh-CN" altLang="en-US" dirty="0"/>
              <a:t>，当调用 </a:t>
            </a:r>
            <a:r>
              <a:rPr lang="en-US" dirty="0" err="1"/>
              <a:t>player.rect.x</a:t>
            </a:r>
            <a:r>
              <a:rPr lang="en-US" dirty="0"/>
              <a:t> &gt; </a:t>
            </a:r>
            <a:r>
              <a:rPr lang="en-US" dirty="0" err="1"/>
              <a:t>screen_width</a:t>
            </a:r>
            <a:r>
              <a:rPr lang="en-US" dirty="0"/>
              <a:t> – 60，next_level（） </a:t>
            </a:r>
            <a:r>
              <a:rPr lang="zh-CN" altLang="en-US" dirty="0"/>
              <a:t>时水平转换。</a:t>
            </a:r>
            <a:endParaRPr lang="en-US" dirty="0"/>
          </a:p>
        </p:txBody>
      </p:sp>
    </p:spTree>
    <p:extLst>
      <p:ext uri="{BB962C8B-B14F-4D97-AF65-F5344CB8AC3E}">
        <p14:creationId xmlns:p14="http://schemas.microsoft.com/office/powerpoint/2010/main" val="3888969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 Management Classes &amp; Buttons</a:t>
            </a:r>
            <a:endParaRPr dirty="0"/>
          </a:p>
        </p:txBody>
      </p:sp>
      <p:sp>
        <p:nvSpPr>
          <p:cNvPr id="3" name="Text Placeholder 2"/>
          <p:cNvSpPr>
            <a:spLocks noGrp="1"/>
          </p:cNvSpPr>
          <p:nvPr>
            <p:ph type="body" idx="1"/>
          </p:nvPr>
        </p:nvSpPr>
        <p:spPr>
          <a:xfrm>
            <a:off x="685799" y="1828800"/>
            <a:ext cx="5178553" cy="685800"/>
          </a:xfrm>
        </p:spPr>
        <p:txBody>
          <a:bodyPr/>
          <a:lstStyle/>
          <a:p>
            <a:r>
              <a:rPr lang="en-US" dirty="0"/>
              <a:t>Save manager </a:t>
            </a:r>
            <a:r>
              <a:rPr lang="zh-CN" altLang="en-US" dirty="0"/>
              <a:t>存档管理器</a:t>
            </a:r>
            <a:endParaRPr dirty="0"/>
          </a:p>
        </p:txBody>
      </p:sp>
      <p:sp>
        <p:nvSpPr>
          <p:cNvPr id="4" name="Content Placeholder 3"/>
          <p:cNvSpPr>
            <a:spLocks noGrp="1"/>
          </p:cNvSpPr>
          <p:nvPr>
            <p:ph sz="half" idx="2"/>
          </p:nvPr>
        </p:nvSpPr>
        <p:spPr>
          <a:xfrm>
            <a:off x="685800" y="2514600"/>
            <a:ext cx="3810000" cy="3581401"/>
          </a:xfrm>
        </p:spPr>
        <p:txBody>
          <a:bodyPr>
            <a:normAutofit lnSpcReduction="10000"/>
          </a:bodyPr>
          <a:lstStyle/>
          <a:p>
            <a:r>
              <a:rPr lang="en-US" dirty="0"/>
              <a:t>Persists progress across sessions using JSON using load and save to read and write JSON validates structures adding missing keys and can update, wipe or retrieve slots data.</a:t>
            </a:r>
          </a:p>
          <a:p>
            <a:r>
              <a:rPr lang="zh-CN" altLang="en-US" dirty="0"/>
              <a:t>通过使用 </a:t>
            </a:r>
            <a:r>
              <a:rPr lang="en-US" altLang="zh-CN" dirty="0"/>
              <a:t>JSON </a:t>
            </a:r>
            <a:r>
              <a:rPr lang="zh-CN" altLang="en-US" dirty="0"/>
              <a:t>使用 </a:t>
            </a:r>
            <a:r>
              <a:rPr lang="en-US" altLang="zh-CN" dirty="0"/>
              <a:t>load </a:t>
            </a:r>
            <a:r>
              <a:rPr lang="zh-CN" altLang="en-US" dirty="0"/>
              <a:t>和 </a:t>
            </a:r>
            <a:r>
              <a:rPr lang="en-US" altLang="zh-CN" dirty="0"/>
              <a:t>save </a:t>
            </a:r>
            <a:r>
              <a:rPr lang="zh-CN" altLang="en-US" dirty="0"/>
              <a:t>来读写 </a:t>
            </a:r>
            <a:r>
              <a:rPr lang="en-US" altLang="zh-CN" dirty="0"/>
              <a:t>JSON </a:t>
            </a:r>
            <a:r>
              <a:rPr lang="zh-CN" altLang="en-US" dirty="0"/>
              <a:t>来持久保存会话间的进度，验证添加缺失密钥的结构，并能更新、清除或检索槽位数据</a:t>
            </a:r>
            <a:r>
              <a:rPr lang="en-US" altLang="zh-CN" dirty="0"/>
              <a:t>.</a:t>
            </a:r>
            <a:endParaRPr lang="en-US" dirty="0"/>
          </a:p>
        </p:txBody>
      </p:sp>
      <p:sp>
        <p:nvSpPr>
          <p:cNvPr id="5" name="Text Placeholder 4"/>
          <p:cNvSpPr>
            <a:spLocks noGrp="1"/>
          </p:cNvSpPr>
          <p:nvPr>
            <p:ph type="body" sz="quarter" idx="3"/>
          </p:nvPr>
        </p:nvSpPr>
        <p:spPr>
          <a:xfrm>
            <a:off x="6327648" y="1828800"/>
            <a:ext cx="4873752" cy="685800"/>
          </a:xfrm>
        </p:spPr>
        <p:txBody>
          <a:bodyPr/>
          <a:lstStyle/>
          <a:p>
            <a:r>
              <a:rPr lang="en-US" dirty="0"/>
              <a:t>Buttons </a:t>
            </a:r>
            <a:r>
              <a:rPr lang="zh-CN" altLang="en-US" dirty="0"/>
              <a:t>按钮</a:t>
            </a:r>
            <a:endParaRPr dirty="0"/>
          </a:p>
        </p:txBody>
      </p:sp>
      <p:sp>
        <p:nvSpPr>
          <p:cNvPr id="6" name="Content Placeholder 5"/>
          <p:cNvSpPr>
            <a:spLocks noGrp="1"/>
          </p:cNvSpPr>
          <p:nvPr>
            <p:ph sz="quarter" idx="4"/>
          </p:nvPr>
        </p:nvSpPr>
        <p:spPr>
          <a:xfrm>
            <a:off x="4572000" y="2514600"/>
            <a:ext cx="6629400" cy="3581401"/>
          </a:xfrm>
        </p:spPr>
        <p:txBody>
          <a:bodyPr>
            <a:normAutofit lnSpcReduction="10000"/>
          </a:bodyPr>
          <a:lstStyle/>
          <a:p>
            <a:r>
              <a:rPr lang="en-US" dirty="0"/>
              <a:t>Reuses user interface elements for menus with attributes of </a:t>
            </a:r>
            <a:r>
              <a:rPr lang="en-US" dirty="0" err="1"/>
              <a:t>rect</a:t>
            </a:r>
            <a:r>
              <a:rPr lang="en-US" dirty="0"/>
              <a:t> color </a:t>
            </a:r>
            <a:r>
              <a:rPr lang="en-US" dirty="0" err="1"/>
              <a:t>hover_color</a:t>
            </a:r>
            <a:r>
              <a:rPr lang="en-US" dirty="0"/>
              <a:t>, </a:t>
            </a:r>
            <a:r>
              <a:rPr lang="en-US" dirty="0" err="1"/>
              <a:t>current_color</a:t>
            </a:r>
            <a:r>
              <a:rPr lang="en-US" dirty="0"/>
              <a:t>. Font. Text, </a:t>
            </a:r>
            <a:r>
              <a:rPr lang="en-US" dirty="0" err="1"/>
              <a:t>text_surface</a:t>
            </a:r>
            <a:r>
              <a:rPr lang="en-US" dirty="0"/>
              <a:t> and </a:t>
            </a:r>
            <a:r>
              <a:rPr lang="en-US" dirty="0" err="1"/>
              <a:t>text_rect</a:t>
            </a:r>
            <a:r>
              <a:rPr lang="en-US" dirty="0"/>
              <a:t>. </a:t>
            </a:r>
            <a:r>
              <a:rPr lang="zh-CN" altLang="en-US" dirty="0"/>
              <a:t>在具有</a:t>
            </a:r>
            <a:r>
              <a:rPr lang="en-US" dirty="0" err="1"/>
              <a:t>rect</a:t>
            </a:r>
            <a:r>
              <a:rPr lang="zh-CN" altLang="en-US" dirty="0"/>
              <a:t>色</a:t>
            </a:r>
            <a:r>
              <a:rPr lang="en-US" dirty="0" err="1"/>
              <a:t>hover_color、current_color</a:t>
            </a:r>
            <a:r>
              <a:rPr lang="zh-CN" altLang="en-US" dirty="0"/>
              <a:t>等属性的菜单中重用用户界面元素。字体。文本、</a:t>
            </a:r>
            <a:r>
              <a:rPr lang="en-US" dirty="0" err="1"/>
              <a:t>text_surface</a:t>
            </a:r>
            <a:r>
              <a:rPr lang="zh-CN" altLang="en-US" dirty="0"/>
              <a:t>和</a:t>
            </a:r>
            <a:r>
              <a:rPr lang="en-US" dirty="0" err="1"/>
              <a:t>text_rect</a:t>
            </a:r>
            <a:r>
              <a:rPr lang="en-US" dirty="0"/>
              <a:t>。</a:t>
            </a:r>
          </a:p>
          <a:p>
            <a:r>
              <a:rPr lang="en-US" dirty="0"/>
              <a:t> Implementation methods include updating mouse position to switch hover colors or draw surface to render rectangle with border radius and centered text while is clicked event returns true to left click within bounds. </a:t>
            </a:r>
            <a:r>
              <a:rPr lang="zh-CN" altLang="en-US" dirty="0"/>
              <a:t>实现方法包括更新鼠标位置切换悬停颜色，或绘制表面以渲染带有边界半径和居中文本的矩形，点击事件在范围内返回</a:t>
            </a:r>
            <a:r>
              <a:rPr lang="en-US" altLang="zh-CN" dirty="0"/>
              <a:t>true</a:t>
            </a:r>
            <a:r>
              <a:rPr lang="zh-CN" altLang="en-US" dirty="0"/>
              <a:t>为左点击。</a:t>
            </a:r>
            <a:endParaRPr lang="en-US" dirty="0"/>
          </a:p>
        </p:txBody>
      </p:sp>
    </p:spTree>
    <p:extLst>
      <p:ext uri="{BB962C8B-B14F-4D97-AF65-F5344CB8AC3E}">
        <p14:creationId xmlns:p14="http://schemas.microsoft.com/office/powerpoint/2010/main" val="1439287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6344" y="-137160"/>
            <a:ext cx="4724400" cy="1828800"/>
          </a:xfrm>
        </p:spPr>
        <p:txBody>
          <a:bodyPr/>
          <a:lstStyle/>
          <a:p>
            <a:r>
              <a:rPr lang="en-US" dirty="0"/>
              <a:t>Lore Keys (Tablets) </a:t>
            </a:r>
            <a:r>
              <a:rPr lang="zh-CN" altLang="en-US" dirty="0"/>
              <a:t>知识钥匙（石板）</a:t>
            </a:r>
            <a:endParaRPr dirty="0"/>
          </a:p>
        </p:txBody>
      </p:sp>
      <p:pic>
        <p:nvPicPr>
          <p:cNvPr id="6" name="Picture Placeholder 5">
            <a:extLst>
              <a:ext uri="{FF2B5EF4-FFF2-40B4-BE49-F238E27FC236}">
                <a16:creationId xmlns:a16="http://schemas.microsoft.com/office/drawing/2014/main" id="{F6CA4D73-517D-45C2-A742-04B7BDF15074}"/>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5068" r="5068"/>
          <a:stretch>
            <a:fillRect/>
          </a:stretch>
        </p:blipFill>
        <p:spPr/>
      </p:pic>
      <p:sp>
        <p:nvSpPr>
          <p:cNvPr id="4" name="Text Placeholder 3"/>
          <p:cNvSpPr>
            <a:spLocks noGrp="1"/>
          </p:cNvSpPr>
          <p:nvPr>
            <p:ph type="body" sz="half" idx="2"/>
          </p:nvPr>
        </p:nvSpPr>
        <p:spPr>
          <a:xfrm>
            <a:off x="7620000" y="1717872"/>
            <a:ext cx="4343400" cy="4987727"/>
          </a:xfrm>
        </p:spPr>
        <p:txBody>
          <a:bodyPr>
            <a:noAutofit/>
          </a:bodyPr>
          <a:lstStyle/>
          <a:p>
            <a:r>
              <a:rPr lang="en-US" sz="2200" dirty="0"/>
              <a:t>Collectible fragments to unlock journal chapters with chapter id attributes to string into the journal chapters alongside the Boolean registered values of the collected states and </a:t>
            </a:r>
            <a:r>
              <a:rPr lang="en-US" sz="2200" dirty="0" err="1"/>
              <a:t>bob_phase</a:t>
            </a:r>
            <a:r>
              <a:rPr lang="en-US" sz="2200" dirty="0"/>
              <a:t> += 0.05 each frame with vertical bob and pulsing glow as float for animation of the objects. </a:t>
            </a:r>
          </a:p>
          <a:p>
            <a:r>
              <a:rPr lang="zh-CN" altLang="en-US" sz="2200" dirty="0"/>
              <a:t>收集碎片用于解锁带有章节</a:t>
            </a:r>
            <a:r>
              <a:rPr lang="en-US" altLang="zh-CN" sz="2200" dirty="0"/>
              <a:t>ID</a:t>
            </a:r>
            <a:r>
              <a:rPr lang="zh-CN" altLang="en-US" sz="2200" dirty="0"/>
              <a:t>属性的日志章节，并与收集状态的布尔注册值并每帧以 </a:t>
            </a:r>
            <a:r>
              <a:rPr lang="en-US" altLang="zh-CN" sz="2200" dirty="0" err="1"/>
              <a:t>bob_phase</a:t>
            </a:r>
            <a:r>
              <a:rPr lang="en-US" altLang="zh-CN" sz="2200" dirty="0"/>
              <a:t> += 0.05 </a:t>
            </a:r>
            <a:r>
              <a:rPr lang="zh-CN" altLang="en-US" sz="2200" dirty="0"/>
              <a:t>进行，垂直浮动和脉动发光作为物体动画浮动。</a:t>
            </a:r>
            <a:endParaRPr sz="2200" dirty="0"/>
          </a:p>
        </p:txBody>
      </p:sp>
    </p:spTree>
    <p:extLst>
      <p:ext uri="{BB962C8B-B14F-4D97-AF65-F5344CB8AC3E}">
        <p14:creationId xmlns:p14="http://schemas.microsoft.com/office/powerpoint/2010/main" val="1857640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0" y="114300"/>
            <a:ext cx="4343400" cy="1143000"/>
          </a:xfrm>
        </p:spPr>
        <p:txBody>
          <a:bodyPr/>
          <a:lstStyle/>
          <a:p>
            <a:r>
              <a:rPr lang="en-US" dirty="0"/>
              <a:t>Enemy Class </a:t>
            </a:r>
            <a:r>
              <a:rPr lang="zh-CN" altLang="en-US" dirty="0"/>
              <a:t>敌舰级</a:t>
            </a:r>
            <a:endParaRPr dirty="0"/>
          </a:p>
        </p:txBody>
      </p:sp>
      <p:sp>
        <p:nvSpPr>
          <p:cNvPr id="3" name="Text Placeholder 2"/>
          <p:cNvSpPr>
            <a:spLocks noGrp="1"/>
          </p:cNvSpPr>
          <p:nvPr>
            <p:ph type="body" idx="1"/>
          </p:nvPr>
        </p:nvSpPr>
        <p:spPr>
          <a:xfrm>
            <a:off x="228600" y="1302895"/>
            <a:ext cx="4343400" cy="685800"/>
          </a:xfrm>
        </p:spPr>
        <p:txBody>
          <a:bodyPr/>
          <a:lstStyle/>
          <a:p>
            <a:r>
              <a:rPr lang="en-US" dirty="0"/>
              <a:t>General Basis </a:t>
            </a:r>
            <a:r>
              <a:rPr lang="zh-CN" altLang="en-US" dirty="0"/>
              <a:t>基础</a:t>
            </a:r>
            <a:endParaRPr dirty="0"/>
          </a:p>
        </p:txBody>
      </p:sp>
      <p:sp>
        <p:nvSpPr>
          <p:cNvPr id="4" name="Content Placeholder 3"/>
          <p:cNvSpPr>
            <a:spLocks noGrp="1"/>
          </p:cNvSpPr>
          <p:nvPr>
            <p:ph sz="half" idx="2"/>
          </p:nvPr>
        </p:nvSpPr>
        <p:spPr>
          <a:xfrm>
            <a:off x="228600" y="1905001"/>
            <a:ext cx="4343400" cy="4724400"/>
          </a:xfrm>
        </p:spPr>
        <p:txBody>
          <a:bodyPr>
            <a:normAutofit/>
          </a:bodyPr>
          <a:lstStyle/>
          <a:p>
            <a:r>
              <a:rPr lang="en-US" dirty="0"/>
              <a:t>Attributes shares </a:t>
            </a:r>
            <a:r>
              <a:rPr lang="en-US" dirty="0" err="1"/>
              <a:t>rect</a:t>
            </a:r>
            <a:r>
              <a:rPr lang="en-US" dirty="0"/>
              <a:t> of pixels as the player character with different velocity however its </a:t>
            </a:r>
            <a:r>
              <a:rPr lang="en-US" dirty="0" err="1"/>
              <a:t>patrol_range</a:t>
            </a:r>
            <a:r>
              <a:rPr lang="en-US" dirty="0"/>
              <a:t> limits how far it can range from its starting position with Boolean value of </a:t>
            </a:r>
            <a:r>
              <a:rPr lang="en-US" dirty="0" err="1"/>
              <a:t>player_spotted</a:t>
            </a:r>
            <a:r>
              <a:rPr lang="en-US" dirty="0"/>
              <a:t> with constants such as </a:t>
            </a:r>
            <a:r>
              <a:rPr lang="en-US" dirty="0" err="1"/>
              <a:t>enemy_vision_range</a:t>
            </a:r>
            <a:r>
              <a:rPr lang="en-US" dirty="0"/>
              <a:t> and </a:t>
            </a:r>
            <a:r>
              <a:rPr lang="en-US" dirty="0" err="1"/>
              <a:t>enemy_vision_height</a:t>
            </a:r>
            <a:r>
              <a:rPr lang="en-US" dirty="0"/>
              <a:t>. </a:t>
            </a:r>
          </a:p>
          <a:p>
            <a:r>
              <a:rPr lang="zh-CN" altLang="en-US" dirty="0"/>
              <a:t>属性与玩家角色共享像素的矩形像素，但速度不同，但其</a:t>
            </a:r>
            <a:r>
              <a:rPr lang="en-US" altLang="zh-CN" dirty="0" err="1"/>
              <a:t>patrol_range</a:t>
            </a:r>
            <a:r>
              <a:rPr lang="zh-CN" altLang="en-US" dirty="0"/>
              <a:t>限制了其从起始位置（布尔值为</a:t>
            </a:r>
            <a:r>
              <a:rPr lang="en-US" altLang="zh-CN" dirty="0" err="1"/>
              <a:t>player_spotted</a:t>
            </a:r>
            <a:r>
              <a:rPr lang="zh-CN" altLang="en-US" dirty="0"/>
              <a:t>，常数如</a:t>
            </a:r>
            <a:r>
              <a:rPr lang="en-US" altLang="zh-CN" dirty="0" err="1"/>
              <a:t>enemy_vision_range</a:t>
            </a:r>
            <a:r>
              <a:rPr lang="zh-CN" altLang="en-US" dirty="0"/>
              <a:t>和</a:t>
            </a:r>
            <a:r>
              <a:rPr lang="en-US" altLang="zh-CN" dirty="0" err="1"/>
              <a:t>enemy_vision_height</a:t>
            </a:r>
            <a:r>
              <a:rPr lang="zh-CN" altLang="en-US" dirty="0"/>
              <a:t>）之间的范围。</a:t>
            </a:r>
          </a:p>
          <a:p>
            <a:endParaRPr lang="en-US" dirty="0"/>
          </a:p>
        </p:txBody>
      </p:sp>
      <p:sp>
        <p:nvSpPr>
          <p:cNvPr id="5" name="Text Placeholder 4"/>
          <p:cNvSpPr>
            <a:spLocks noGrp="1"/>
          </p:cNvSpPr>
          <p:nvPr>
            <p:ph type="body" sz="quarter" idx="3"/>
          </p:nvPr>
        </p:nvSpPr>
        <p:spPr>
          <a:xfrm>
            <a:off x="6327648" y="1302895"/>
            <a:ext cx="4343400" cy="685800"/>
          </a:xfrm>
        </p:spPr>
        <p:txBody>
          <a:bodyPr/>
          <a:lstStyle/>
          <a:p>
            <a:r>
              <a:rPr lang="en-US" dirty="0"/>
              <a:t>Patrol &amp; Sight </a:t>
            </a:r>
            <a:r>
              <a:rPr lang="zh-CN" altLang="en-US" dirty="0"/>
              <a:t>巡逻与视野</a:t>
            </a:r>
            <a:endParaRPr dirty="0"/>
          </a:p>
        </p:txBody>
      </p:sp>
      <p:sp>
        <p:nvSpPr>
          <p:cNvPr id="6" name="Content Placeholder 5"/>
          <p:cNvSpPr>
            <a:spLocks noGrp="1"/>
          </p:cNvSpPr>
          <p:nvPr>
            <p:ph sz="quarter" idx="4"/>
          </p:nvPr>
        </p:nvSpPr>
        <p:spPr>
          <a:xfrm>
            <a:off x="4495800" y="1905001"/>
            <a:ext cx="7315200" cy="4724399"/>
          </a:xfrm>
        </p:spPr>
        <p:txBody>
          <a:bodyPr>
            <a:normAutofit/>
          </a:bodyPr>
          <a:lstStyle/>
          <a:p>
            <a:r>
              <a:rPr lang="en-US" dirty="0"/>
              <a:t>Reverses direction at </a:t>
            </a:r>
            <a:r>
              <a:rPr lang="en-US" dirty="0" err="1"/>
              <a:t>start_x</a:t>
            </a:r>
            <a:r>
              <a:rPr lang="en-US" dirty="0"/>
              <a:t> the starting position paired with reverses direction when hitting the platform edge which gives the passive patrol appearance.</a:t>
            </a:r>
          </a:p>
          <a:p>
            <a:r>
              <a:rPr lang="en-US" altLang="zh-CN" dirty="0" err="1"/>
              <a:t>start_x</a:t>
            </a:r>
            <a:r>
              <a:rPr lang="zh-CN" altLang="en-US" dirty="0"/>
              <a:t>起始位置反向，撞击平台边缘时反向，形成被动巡逻的外观。</a:t>
            </a:r>
            <a:endParaRPr lang="en-US" dirty="0"/>
          </a:p>
          <a:p>
            <a:r>
              <a:rPr lang="en-US" dirty="0"/>
              <a:t>Vision system runs on the </a:t>
            </a:r>
            <a:r>
              <a:rPr lang="en-US" dirty="0" err="1"/>
              <a:t>vision.collidirect</a:t>
            </a:r>
            <a:r>
              <a:rPr lang="en-US" dirty="0"/>
              <a:t>(</a:t>
            </a:r>
            <a:r>
              <a:rPr lang="en-US" dirty="0" err="1"/>
              <a:t>player.rect</a:t>
            </a:r>
            <a:r>
              <a:rPr lang="en-US" dirty="0"/>
              <a:t>) </a:t>
            </a:r>
            <a:r>
              <a:rPr lang="en-US" dirty="0" err="1"/>
              <a:t>overla</a:t>
            </a:r>
            <a:r>
              <a:rPr lang="en-US" dirty="0"/>
              <a:t>[ is sight with visual feedback of a translucent bar/ray that turns translucent red when spotted and yellow when not spotted as the body also turns brighter orange when spotted, also the SPOTTED! Text appears on screen </a:t>
            </a:r>
          </a:p>
          <a:p>
            <a:r>
              <a:rPr lang="zh-CN" altLang="en-US" dirty="0"/>
              <a:t>视觉系统运行在</a:t>
            </a:r>
            <a:r>
              <a:rPr lang="en-US" altLang="zh-CN" dirty="0" err="1"/>
              <a:t>vision.collidirect</a:t>
            </a:r>
            <a:r>
              <a:rPr lang="zh-CN" altLang="en-US" dirty="0"/>
              <a:t>（</a:t>
            </a:r>
            <a:r>
              <a:rPr lang="en-US" altLang="zh-CN" dirty="0" err="1"/>
              <a:t>player.rect</a:t>
            </a:r>
            <a:r>
              <a:rPr lang="zh-CN" altLang="en-US" dirty="0"/>
              <a:t>）覆盖上，是带有视觉反馈的半透明条</a:t>
            </a:r>
            <a:r>
              <a:rPr lang="en-US" altLang="zh-CN" dirty="0"/>
              <a:t>/</a:t>
            </a:r>
            <a:r>
              <a:rPr lang="zh-CN" altLang="en-US" dirty="0"/>
              <a:t>射线，当被发现时会变成半透明的红色，未被发现时变成黄色，身体在被发现时也会变成更亮的橙色，同样是“斑点！”屏幕上会出现文字</a:t>
            </a:r>
          </a:p>
          <a:p>
            <a:endParaRPr lang="en-US" dirty="0"/>
          </a:p>
        </p:txBody>
      </p:sp>
    </p:spTree>
    <p:extLst>
      <p:ext uri="{BB962C8B-B14F-4D97-AF65-F5344CB8AC3E}">
        <p14:creationId xmlns:p14="http://schemas.microsoft.com/office/powerpoint/2010/main" val="430110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4000" y="1905000"/>
            <a:ext cx="9144000" cy="609600"/>
          </a:xfrm>
        </p:spPr>
        <p:txBody>
          <a:bodyPr/>
          <a:lstStyle/>
          <a:p>
            <a:r>
              <a:rPr lang="en-US" dirty="0"/>
              <a:t>The Warden (Antagonist) </a:t>
            </a:r>
            <a:r>
              <a:rPr lang="zh-CN" altLang="en-US" dirty="0"/>
              <a:t>典狱长（反派）</a:t>
            </a:r>
            <a:endParaRPr dirty="0"/>
          </a:p>
        </p:txBody>
      </p:sp>
      <p:sp>
        <p:nvSpPr>
          <p:cNvPr id="14" name="Content Placeholder 13"/>
          <p:cNvSpPr>
            <a:spLocks noGrp="1"/>
          </p:cNvSpPr>
          <p:nvPr>
            <p:ph idx="1"/>
          </p:nvPr>
        </p:nvSpPr>
        <p:spPr>
          <a:xfrm>
            <a:off x="1371600" y="2667000"/>
            <a:ext cx="8915400" cy="3200400"/>
          </a:xfrm>
        </p:spPr>
        <p:txBody>
          <a:bodyPr>
            <a:normAutofit/>
          </a:bodyPr>
          <a:lstStyle/>
          <a:p>
            <a:r>
              <a:rPr lang="en-US" dirty="0" err="1"/>
              <a:t>Rect</a:t>
            </a:r>
            <a:r>
              <a:rPr lang="en-US" dirty="0"/>
              <a:t> foundation as is others however slightly different with talking dialogue unlike the husks they created as guard minions and a specific defeat state measured with Boolean data with scaling phases and dialogue system from their index otherwise for combat they pursue the player and must be dealt damage from dropping with present health.</a:t>
            </a:r>
          </a:p>
          <a:p>
            <a:r>
              <a:rPr lang="en-US" altLang="zh-CN" dirty="0" err="1"/>
              <a:t>Rect</a:t>
            </a:r>
            <a:r>
              <a:rPr lang="en-US" altLang="zh-CN" dirty="0"/>
              <a:t> Foundation</a:t>
            </a:r>
            <a:r>
              <a:rPr lang="zh-CN" altLang="en-US" dirty="0"/>
              <a:t>和其他人一样，但略有不同，对话是对话，不同于他们作为守卫小兵创造的空壳，且有特定的失败状态，使用布尔数据测量，带有缩放阶段和基于索引的对话系统，否则战斗时他们会追击玩家，必须在当前生命值下通过掉落造成伤害。</a:t>
            </a:r>
            <a:endParaRPr dirty="0"/>
          </a:p>
        </p:txBody>
      </p:sp>
    </p:spTree>
    <p:extLst>
      <p:ext uri="{BB962C8B-B14F-4D97-AF65-F5344CB8AC3E}">
        <p14:creationId xmlns:p14="http://schemas.microsoft.com/office/powerpoint/2010/main" val="2789100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9152" y="152400"/>
            <a:ext cx="7010400" cy="685800"/>
          </a:xfrm>
        </p:spPr>
        <p:txBody>
          <a:bodyPr/>
          <a:lstStyle/>
          <a:p>
            <a:r>
              <a:rPr lang="en-US" dirty="0"/>
              <a:t>Epilogue Part 1 </a:t>
            </a:r>
            <a:r>
              <a:rPr lang="zh-CN" altLang="en-US" dirty="0"/>
              <a:t>尾声 第一部分</a:t>
            </a:r>
            <a:endParaRPr dirty="0"/>
          </a:p>
        </p:txBody>
      </p:sp>
      <p:sp>
        <p:nvSpPr>
          <p:cNvPr id="3" name="Text Placeholder 2"/>
          <p:cNvSpPr>
            <a:spLocks noGrp="1"/>
          </p:cNvSpPr>
          <p:nvPr>
            <p:ph type="body" idx="1"/>
          </p:nvPr>
        </p:nvSpPr>
        <p:spPr>
          <a:xfrm>
            <a:off x="685799" y="914400"/>
            <a:ext cx="5178553" cy="685800"/>
          </a:xfrm>
        </p:spPr>
        <p:txBody>
          <a:bodyPr/>
          <a:lstStyle/>
          <a:p>
            <a:r>
              <a:rPr lang="en-US" dirty="0"/>
              <a:t>General </a:t>
            </a:r>
            <a:r>
              <a:rPr lang="zh-CN" altLang="en-US" dirty="0"/>
              <a:t>概述</a:t>
            </a:r>
            <a:endParaRPr dirty="0"/>
          </a:p>
        </p:txBody>
      </p:sp>
      <p:sp>
        <p:nvSpPr>
          <p:cNvPr id="4" name="Content Placeholder 3"/>
          <p:cNvSpPr>
            <a:spLocks noGrp="1"/>
          </p:cNvSpPr>
          <p:nvPr>
            <p:ph sz="half" idx="2"/>
          </p:nvPr>
        </p:nvSpPr>
        <p:spPr>
          <a:xfrm>
            <a:off x="381000" y="1524000"/>
            <a:ext cx="5489448" cy="5029200"/>
          </a:xfrm>
        </p:spPr>
        <p:txBody>
          <a:bodyPr>
            <a:normAutofit/>
          </a:bodyPr>
          <a:lstStyle/>
          <a:p>
            <a:r>
              <a:rPr lang="en-US" dirty="0"/>
              <a:t>State of </a:t>
            </a:r>
            <a:r>
              <a:rPr lang="en-US" dirty="0" err="1"/>
              <a:t>defeat_dialogue</a:t>
            </a:r>
            <a:r>
              <a:rPr lang="en-US" dirty="0"/>
              <a:t> with 26 lines of dialogue from the defeated warden with the typewriter effect “</a:t>
            </a:r>
            <a:r>
              <a:rPr lang="en-US" dirty="0" err="1"/>
              <a:t>typewriter_progress</a:t>
            </a:r>
            <a:r>
              <a:rPr lang="en-US" dirty="0"/>
              <a:t> += 1.5” per frame with progress indicator of “</a:t>
            </a:r>
            <a:r>
              <a:rPr lang="en-US" dirty="0" err="1"/>
              <a:t>dialogue_index</a:t>
            </a:r>
            <a:r>
              <a:rPr lang="en-US" dirty="0"/>
              <a:t> +1 / 26” to manage the lines.</a:t>
            </a:r>
          </a:p>
          <a:p>
            <a:r>
              <a:rPr lang="en-US" dirty="0" err="1"/>
              <a:t>defeat_dialogue</a:t>
            </a:r>
            <a:r>
              <a:rPr lang="zh-CN" altLang="en-US" dirty="0"/>
              <a:t>状态，击败的典狱长对话</a:t>
            </a:r>
            <a:r>
              <a:rPr lang="en-US" altLang="zh-CN" dirty="0"/>
              <a:t>26</a:t>
            </a:r>
            <a:r>
              <a:rPr lang="zh-CN" altLang="en-US" dirty="0"/>
              <a:t>行，每帧有打字机效果“</a:t>
            </a:r>
            <a:r>
              <a:rPr lang="en-US" dirty="0" err="1"/>
              <a:t>typewriter_progress</a:t>
            </a:r>
            <a:r>
              <a:rPr lang="en-US" dirty="0"/>
              <a:t> += 1.5”，</a:t>
            </a:r>
            <a:r>
              <a:rPr lang="zh-CN" altLang="en-US" dirty="0"/>
              <a:t>进度指示器为“</a:t>
            </a:r>
            <a:r>
              <a:rPr lang="en-US" dirty="0" err="1"/>
              <a:t>dialogue_index</a:t>
            </a:r>
            <a:r>
              <a:rPr lang="en-US" dirty="0"/>
              <a:t> +1 / 26”</a:t>
            </a:r>
            <a:r>
              <a:rPr lang="zh-CN" altLang="en-US" dirty="0"/>
              <a:t>以管理台词</a:t>
            </a:r>
            <a:r>
              <a:rPr lang="en-US" altLang="zh-CN" dirty="0"/>
              <a:t>.</a:t>
            </a:r>
          </a:p>
          <a:p>
            <a:r>
              <a:rPr lang="en-US" dirty="0"/>
              <a:t>Key lines about the breaking of expectations the true secret of the world the meta awareness and the confrontation of choice</a:t>
            </a:r>
          </a:p>
          <a:p>
            <a:r>
              <a:rPr lang="zh-CN" altLang="en-US" dirty="0"/>
              <a:t>关于打破期望、世界真正秘密、元觉察以及选择对抗的关键句子</a:t>
            </a:r>
            <a:endParaRPr lang="en-US" dirty="0"/>
          </a:p>
        </p:txBody>
      </p:sp>
      <p:sp>
        <p:nvSpPr>
          <p:cNvPr id="5" name="Text Placeholder 4"/>
          <p:cNvSpPr>
            <a:spLocks noGrp="1"/>
          </p:cNvSpPr>
          <p:nvPr>
            <p:ph type="body" sz="quarter" idx="3"/>
          </p:nvPr>
        </p:nvSpPr>
        <p:spPr>
          <a:xfrm>
            <a:off x="6315156" y="914400"/>
            <a:ext cx="4873752" cy="685800"/>
          </a:xfrm>
        </p:spPr>
        <p:txBody>
          <a:bodyPr/>
          <a:lstStyle/>
          <a:p>
            <a:r>
              <a:rPr lang="en-US" dirty="0" err="1"/>
              <a:t>Coniditons</a:t>
            </a:r>
            <a:r>
              <a:rPr lang="en-US" dirty="0"/>
              <a:t> </a:t>
            </a:r>
            <a:r>
              <a:rPr lang="zh-CN" altLang="en-US" dirty="0"/>
              <a:t>分生子</a:t>
            </a:r>
            <a:endParaRPr dirty="0"/>
          </a:p>
        </p:txBody>
      </p:sp>
      <p:sp>
        <p:nvSpPr>
          <p:cNvPr id="6" name="Content Placeholder 5"/>
          <p:cNvSpPr>
            <a:spLocks noGrp="1"/>
          </p:cNvSpPr>
          <p:nvPr>
            <p:ph sz="quarter" idx="4"/>
          </p:nvPr>
        </p:nvSpPr>
        <p:spPr>
          <a:xfrm>
            <a:off x="6327648" y="1524000"/>
            <a:ext cx="5407152" cy="5029200"/>
          </a:xfrm>
        </p:spPr>
        <p:txBody>
          <a:bodyPr>
            <a:normAutofit/>
          </a:bodyPr>
          <a:lstStyle/>
          <a:p>
            <a:r>
              <a:rPr lang="en-US" dirty="0"/>
              <a:t>When the warden is defeated </a:t>
            </a:r>
            <a:r>
              <a:rPr lang="en-US" dirty="0">
                <a:sym typeface="Wingdings" panose="05000000000000000000" pitchFamily="2" charset="2"/>
              </a:rPr>
              <a:t> phase sets as 2  dialogue reaching the  choice buttons, while all journal chapters collected  apply choice break automatically with standalone module for testing the ending sequence(s). </a:t>
            </a:r>
          </a:p>
          <a:p>
            <a:r>
              <a:rPr lang="zh-CN" altLang="en-US" dirty="0"/>
              <a:t>当守望者被击败时，阶段设置为两段对话，进入选择按钮，而收集的所有日志章节会自动应用选择休息，并有独立模块测试结局序列。</a:t>
            </a:r>
            <a:endParaRPr lang="en-US" dirty="0"/>
          </a:p>
          <a:p>
            <a:r>
              <a:rPr lang="en-US" dirty="0"/>
              <a:t>State of choice screen presents the options he proposes to complete the game with the following slide’s content descriptions/details</a:t>
            </a:r>
          </a:p>
          <a:p>
            <a:r>
              <a:rPr lang="zh-CN" altLang="en-US" dirty="0"/>
              <a:t>选择状态界面展示了他提出的完成游戏选项，下面是幻灯片的内容描述</a:t>
            </a:r>
            <a:r>
              <a:rPr lang="en-US" altLang="zh-CN" dirty="0"/>
              <a:t>/</a:t>
            </a:r>
            <a:r>
              <a:rPr lang="zh-CN" altLang="en-US" dirty="0"/>
              <a:t>细节</a:t>
            </a:r>
            <a:endParaRPr lang="en-US" dirty="0"/>
          </a:p>
        </p:txBody>
      </p:sp>
    </p:spTree>
    <p:extLst>
      <p:ext uri="{BB962C8B-B14F-4D97-AF65-F5344CB8AC3E}">
        <p14:creationId xmlns:p14="http://schemas.microsoft.com/office/powerpoint/2010/main" val="1635015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9152" y="152400"/>
            <a:ext cx="7010400" cy="685800"/>
          </a:xfrm>
        </p:spPr>
        <p:txBody>
          <a:bodyPr/>
          <a:lstStyle/>
          <a:p>
            <a:r>
              <a:rPr lang="en-US" dirty="0"/>
              <a:t>Endings Part 1 </a:t>
            </a:r>
            <a:r>
              <a:rPr lang="zh-CN" altLang="en-US" dirty="0"/>
              <a:t>尾声 第二部分</a:t>
            </a:r>
            <a:endParaRPr dirty="0"/>
          </a:p>
        </p:txBody>
      </p:sp>
      <p:sp>
        <p:nvSpPr>
          <p:cNvPr id="3" name="Text Placeholder 2"/>
          <p:cNvSpPr>
            <a:spLocks noGrp="1"/>
          </p:cNvSpPr>
          <p:nvPr>
            <p:ph type="body" idx="1"/>
          </p:nvPr>
        </p:nvSpPr>
        <p:spPr>
          <a:xfrm>
            <a:off x="685799" y="914400"/>
            <a:ext cx="5178553" cy="685800"/>
          </a:xfrm>
        </p:spPr>
        <p:txBody>
          <a:bodyPr>
            <a:normAutofit lnSpcReduction="10000"/>
          </a:bodyPr>
          <a:lstStyle/>
          <a:p>
            <a:r>
              <a:rPr lang="en-US" dirty="0"/>
              <a:t>Epilogue Ending 1 The New Warden</a:t>
            </a:r>
          </a:p>
          <a:p>
            <a:r>
              <a:rPr lang="zh-CN" altLang="en-US" dirty="0"/>
              <a:t>尾声 结局</a:t>
            </a:r>
            <a:r>
              <a:rPr lang="en-US" altLang="zh-CN" dirty="0"/>
              <a:t>1 </a:t>
            </a:r>
            <a:r>
              <a:rPr lang="zh-CN" altLang="en-US" dirty="0"/>
              <a:t>新典狱长</a:t>
            </a:r>
            <a:endParaRPr dirty="0"/>
          </a:p>
        </p:txBody>
      </p:sp>
      <p:sp>
        <p:nvSpPr>
          <p:cNvPr id="4" name="Content Placeholder 3"/>
          <p:cNvSpPr>
            <a:spLocks noGrp="1"/>
          </p:cNvSpPr>
          <p:nvPr>
            <p:ph sz="half" idx="2"/>
          </p:nvPr>
        </p:nvSpPr>
        <p:spPr>
          <a:xfrm>
            <a:off x="317840" y="1600200"/>
            <a:ext cx="5489448" cy="5029200"/>
          </a:xfrm>
        </p:spPr>
        <p:txBody>
          <a:bodyPr>
            <a:normAutofit/>
          </a:bodyPr>
          <a:lstStyle/>
          <a:p>
            <a:r>
              <a:rPr lang="en-US" dirty="0"/>
              <a:t>You take up his mantle as well as his responsibility to be the next warden giving up yourself to become the next puppeteer for the stage of wandering souls to attract more essence required for the beings of this realm to exist it is too risky to try and break a status quo that makes sense with evidence and holds the lives of everyone</a:t>
            </a:r>
          </a:p>
          <a:p>
            <a:r>
              <a:rPr lang="zh-CN" altLang="en-US" dirty="0"/>
              <a:t>你承担起他的责任，成为下一任守护者，放弃自己成为流浪灵魂舞台的傀儡师，以吸引更多本质，以维持这个领域的存在。试图打破一个有证据且关乎所有人生命的现状太冒险了</a:t>
            </a:r>
            <a:endParaRPr lang="en-US" dirty="0"/>
          </a:p>
        </p:txBody>
      </p:sp>
      <p:sp>
        <p:nvSpPr>
          <p:cNvPr id="5" name="Text Placeholder 4"/>
          <p:cNvSpPr>
            <a:spLocks noGrp="1"/>
          </p:cNvSpPr>
          <p:nvPr>
            <p:ph type="body" sz="quarter" idx="3"/>
          </p:nvPr>
        </p:nvSpPr>
        <p:spPr>
          <a:xfrm>
            <a:off x="6315156" y="914400"/>
            <a:ext cx="4873752" cy="685800"/>
          </a:xfrm>
        </p:spPr>
        <p:txBody>
          <a:bodyPr>
            <a:normAutofit lnSpcReduction="10000"/>
          </a:bodyPr>
          <a:lstStyle/>
          <a:p>
            <a:r>
              <a:rPr lang="en-US" dirty="0"/>
              <a:t>Epilogue Ending 2 Break the Cycle </a:t>
            </a:r>
          </a:p>
          <a:p>
            <a:r>
              <a:rPr lang="zh-CN" altLang="en-US" dirty="0"/>
              <a:t>尾声结局</a:t>
            </a:r>
            <a:r>
              <a:rPr lang="en-US" altLang="zh-CN" dirty="0"/>
              <a:t>2 </a:t>
            </a:r>
            <a:r>
              <a:rPr lang="zh-CN" altLang="en-US" dirty="0"/>
              <a:t>打破循环</a:t>
            </a:r>
            <a:endParaRPr dirty="0"/>
          </a:p>
        </p:txBody>
      </p:sp>
      <p:sp>
        <p:nvSpPr>
          <p:cNvPr id="6" name="Content Placeholder 5"/>
          <p:cNvSpPr>
            <a:spLocks noGrp="1"/>
          </p:cNvSpPr>
          <p:nvPr>
            <p:ph sz="quarter" idx="4"/>
          </p:nvPr>
        </p:nvSpPr>
        <p:spPr>
          <a:xfrm>
            <a:off x="6352234" y="1615190"/>
            <a:ext cx="5407152" cy="5029200"/>
          </a:xfrm>
        </p:spPr>
        <p:txBody>
          <a:bodyPr>
            <a:normAutofit/>
          </a:bodyPr>
          <a:lstStyle/>
          <a:p>
            <a:r>
              <a:rPr lang="en-US" dirty="0"/>
              <a:t>Refusing the proposal risking the world unraveling either because the world as is isn’t worth saving or their faith in the people as </a:t>
            </a:r>
            <a:r>
              <a:rPr lang="en-US" dirty="0" err="1"/>
              <a:t>wel</a:t>
            </a:r>
            <a:r>
              <a:rPr lang="en-US" dirty="0"/>
              <a:t> as themselves exceeds the doubt and pursues making the world better because maybe it will not need a warden to not chase the future is to be trapped in the past</a:t>
            </a:r>
          </a:p>
          <a:p>
            <a:r>
              <a:rPr lang="zh-CN" altLang="en-US" dirty="0">
                <a:sym typeface="Wingdings" panose="05000000000000000000" pitchFamily="2" charset="2"/>
              </a:rPr>
              <a:t>拒绝提议，冒着世界崩溃的风险，要么是因为他们对像自己一样善良人民的信任超越了怀疑，追求让世界变得更好，因为也许不需要守护者来追逐未来，那就是被困在过去</a:t>
            </a:r>
            <a:endParaRPr lang="en-US" dirty="0">
              <a:sym typeface="Wingdings" panose="05000000000000000000" pitchFamily="2" charset="2"/>
            </a:endParaRPr>
          </a:p>
        </p:txBody>
      </p:sp>
    </p:spTree>
    <p:extLst>
      <p:ext uri="{BB962C8B-B14F-4D97-AF65-F5344CB8AC3E}">
        <p14:creationId xmlns:p14="http://schemas.microsoft.com/office/powerpoint/2010/main" val="429416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11353800" cy="685800"/>
          </a:xfrm>
        </p:spPr>
        <p:txBody>
          <a:bodyPr>
            <a:normAutofit fontScale="90000"/>
          </a:bodyPr>
          <a:lstStyle/>
          <a:p>
            <a:r>
              <a:rPr lang="en-US" dirty="0"/>
              <a:t>Technical Conclusion </a:t>
            </a:r>
            <a:r>
              <a:rPr lang="zh-CN" altLang="en-US" dirty="0"/>
              <a:t>技术结论</a:t>
            </a:r>
            <a:endParaRPr dirty="0"/>
          </a:p>
        </p:txBody>
      </p:sp>
      <p:sp>
        <p:nvSpPr>
          <p:cNvPr id="3" name="Text Placeholder 2"/>
          <p:cNvSpPr>
            <a:spLocks noGrp="1"/>
          </p:cNvSpPr>
          <p:nvPr>
            <p:ph type="body" idx="1"/>
          </p:nvPr>
        </p:nvSpPr>
        <p:spPr>
          <a:xfrm>
            <a:off x="152400" y="1295400"/>
            <a:ext cx="11963400" cy="5334000"/>
          </a:xfrm>
        </p:spPr>
        <p:txBody>
          <a:bodyPr>
            <a:normAutofit/>
          </a:bodyPr>
          <a:lstStyle/>
          <a:p>
            <a:pPr marL="342900" indent="-342900">
              <a:buFont typeface="Arial" panose="020B0604020202020204" pitchFamily="34" charset="0"/>
              <a:buChar char="•"/>
            </a:pPr>
            <a:r>
              <a:rPr lang="en-US" altLang="zh-CN" dirty="0"/>
              <a:t>Code organized with clear separation constants classes level builders &amp; state handlers. Additionally reusable buttons save managers, journal managers, and state handlers with modular level construction.</a:t>
            </a:r>
          </a:p>
          <a:p>
            <a:pPr marL="342900" indent="-342900">
              <a:buFont typeface="Arial" panose="020B0604020202020204" pitchFamily="34" charset="0"/>
              <a:buChar char="•"/>
            </a:pPr>
            <a:r>
              <a:rPr lang="zh-CN" altLang="en-US" dirty="0"/>
              <a:t>代码组织清晰，包含分离常量、类、层级构建器和状态处理程序。此外，可复用按钮可通过模块化层构建保存管理器、日志管理器和状态处理程序。</a:t>
            </a:r>
            <a:endParaRPr lang="en-US" altLang="zh-CN"/>
          </a:p>
          <a:p>
            <a:pPr marL="342900" indent="-342900">
              <a:buFont typeface="Arial" panose="020B0604020202020204" pitchFamily="34" charset="0"/>
              <a:buChar char="•"/>
            </a:pPr>
            <a:endParaRPr lang="en-US" altLang="zh-CN" dirty="0"/>
          </a:p>
          <a:p>
            <a:pPr marL="342900" indent="-342900">
              <a:buFont typeface="Arial" panose="020B0604020202020204" pitchFamily="34" charset="0"/>
              <a:buChar char="•"/>
            </a:pPr>
            <a:r>
              <a:rPr lang="en-US" dirty="0"/>
              <a:t>Persistence of JSON file saving checkpoint progress &amp; journal states followed by the UI/UX hover states and dialogue effects with color coded visual feedback for entities interactions and state changes.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altLang="zh-CN" dirty="0"/>
              <a:t>JSON</a:t>
            </a:r>
            <a:r>
              <a:rPr lang="zh-CN" altLang="en-US" dirty="0"/>
              <a:t>文件的持久化、保存检查点进度和日志状态，随后是</a:t>
            </a:r>
            <a:r>
              <a:rPr lang="en-US" altLang="zh-CN" dirty="0"/>
              <a:t>UI/UX</a:t>
            </a:r>
            <a:r>
              <a:rPr lang="zh-CN" altLang="en-US" dirty="0"/>
              <a:t>悬停状态和对话效果，并配有颜色编码的视觉反馈，涵盖实体交互和状态变化。</a:t>
            </a:r>
            <a:endParaRPr lang="en-US" altLang="zh-CN"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Narrative Content contains 16 Journal Chapters, 12 warden lines, 26 defeat lines, 2 entire epilogues and 2 branching endings thus far in the first complete demo.</a:t>
            </a:r>
          </a:p>
          <a:p>
            <a:pPr marL="342900" indent="-342900">
              <a:buFont typeface="Arial" panose="020B0604020202020204" pitchFamily="34" charset="0"/>
              <a:buChar char="•"/>
            </a:pPr>
            <a:r>
              <a:rPr lang="zh-CN" altLang="en-US" dirty="0"/>
              <a:t>叙事内容包含</a:t>
            </a:r>
            <a:r>
              <a:rPr lang="en-US" altLang="zh-CN" dirty="0"/>
              <a:t>16</a:t>
            </a:r>
            <a:r>
              <a:rPr lang="zh-CN" altLang="en-US" dirty="0"/>
              <a:t>个日志章节、</a:t>
            </a:r>
            <a:r>
              <a:rPr lang="en-US" altLang="zh-CN" dirty="0"/>
              <a:t>12</a:t>
            </a:r>
            <a:r>
              <a:rPr lang="zh-CN" altLang="en-US" dirty="0"/>
              <a:t>条守卫线、</a:t>
            </a:r>
            <a:r>
              <a:rPr lang="en-US" altLang="zh-CN" dirty="0"/>
              <a:t>26</a:t>
            </a:r>
            <a:r>
              <a:rPr lang="zh-CN" altLang="en-US" dirty="0"/>
              <a:t>条失败线、</a:t>
            </a:r>
            <a:r>
              <a:rPr lang="en-US" altLang="zh-CN" dirty="0"/>
              <a:t>2</a:t>
            </a:r>
            <a:r>
              <a:rPr lang="zh-CN" altLang="en-US" dirty="0"/>
              <a:t>个完整的尾声和</a:t>
            </a:r>
            <a:r>
              <a:rPr lang="en-US" altLang="zh-CN" dirty="0"/>
              <a:t>2</a:t>
            </a:r>
            <a:r>
              <a:rPr lang="zh-CN" altLang="en-US" dirty="0"/>
              <a:t>个分支结局，迄今为止，首个完整演示版中已呈现。</a:t>
            </a:r>
            <a:endParaRPr lang="en-US" dirty="0"/>
          </a:p>
        </p:txBody>
      </p:sp>
    </p:spTree>
    <p:extLst>
      <p:ext uri="{BB962C8B-B14F-4D97-AF65-F5344CB8AC3E}">
        <p14:creationId xmlns:p14="http://schemas.microsoft.com/office/powerpoint/2010/main" val="488128023"/>
      </p:ext>
    </p:extLst>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901026.potx" id="{FD85E87A-7813-4F67-9E59-69B5487A1910}" vid="{BDF94C36-3ACF-4CF1-939F-F4211E6D666F}"/>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516</TotalTime>
  <Words>2510</Words>
  <Application>Microsoft Office PowerPoint</Application>
  <PresentationFormat>Widescreen</PresentationFormat>
  <Paragraphs>81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Candara</vt:lpstr>
      <vt:lpstr>Consolas</vt:lpstr>
      <vt:lpstr>Tech Computer 16x9</vt:lpstr>
      <vt:lpstr>Project: [Soul Forge] 73rd Cycle 项目：[灵魂锻造] 第73周期</vt:lpstr>
      <vt:lpstr>Introduction/Overview 引言/概述</vt:lpstr>
      <vt:lpstr>Game Development Elements 游戏开发元素</vt:lpstr>
      <vt:lpstr>Player Character Movement 玩家角色移动</vt:lpstr>
      <vt:lpstr>Platforms &amp; Platforming 平台与平台</vt:lpstr>
      <vt:lpstr>Save Management Classes &amp; Buttons</vt:lpstr>
      <vt:lpstr>Lore Keys (Tablets) 知识钥匙（石板）</vt:lpstr>
      <vt:lpstr>Enemy Class 敌舰级</vt:lpstr>
      <vt:lpstr>The Warden (Antagonist) 典狱长（反派）</vt:lpstr>
      <vt:lpstr>Epilogue Part 1 尾声 第一部分</vt:lpstr>
      <vt:lpstr>Endings Part 1 尾声 第二部分</vt:lpstr>
      <vt:lpstr>Technical Conclusion 技术结论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[Soul Forge] 73rd Cycle</dc:title>
  <dc:creator>richardfsaili@gmail.com</dc:creator>
  <cp:lastModifiedBy>richardfsaili@gmail.com</cp:lastModifiedBy>
  <cp:revision>19</cp:revision>
  <dcterms:created xsi:type="dcterms:W3CDTF">2026-09-26T18:56:08Z</dcterms:created>
  <dcterms:modified xsi:type="dcterms:W3CDTF">2026-09-27T03:33:04Z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